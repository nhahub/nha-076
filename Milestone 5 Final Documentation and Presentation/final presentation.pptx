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61" r:id="rId2"/>
    <p:sldId id="278" r:id="rId3"/>
    <p:sldId id="285" r:id="rId4"/>
    <p:sldId id="257" r:id="rId5"/>
    <p:sldId id="281" r:id="rId6"/>
    <p:sldId id="268" r:id="rId7"/>
    <p:sldId id="266" r:id="rId8"/>
    <p:sldId id="284" r:id="rId9"/>
    <p:sldId id="287" r:id="rId10"/>
    <p:sldId id="283" r:id="rId11"/>
    <p:sldId id="286" r:id="rId12"/>
    <p:sldId id="288" r:id="rId13"/>
    <p:sldId id="280" r:id="rId14"/>
    <p:sldId id="282" r:id="rId15"/>
    <p:sldId id="270" r:id="rId16"/>
    <p:sldId id="259" r:id="rId17"/>
  </p:sldIdLst>
  <p:sldSz cx="12192000" cy="6858000"/>
  <p:notesSz cx="6858000" cy="9144000"/>
  <p:embeddedFontLst>
    <p:embeddedFont>
      <p:font typeface="Georgia" panose="02040502050405020303" pitchFamily="18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6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20630E44-A3D7-7049-0BCF-C654A2952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>
            <a:extLst>
              <a:ext uri="{FF2B5EF4-FFF2-40B4-BE49-F238E27FC236}">
                <a16:creationId xmlns:a16="http://schemas.microsoft.com/office/drawing/2014/main" id="{844C03FB-2F6A-5F9A-0DF9-2DE575EA5C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>
            <a:extLst>
              <a:ext uri="{FF2B5EF4-FFF2-40B4-BE49-F238E27FC236}">
                <a16:creationId xmlns:a16="http://schemas.microsoft.com/office/drawing/2014/main" id="{CAA81572-CE72-997F-905C-6BB71DF45B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24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8E6F90CB-1494-9DBC-3969-907387501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CBFF8DA6-DF8B-3AF3-4A25-8FF1B33B50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601A4FC4-DF38-C09A-EAB3-979BFBB98B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34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0F62150C-D29A-F287-FDBE-318B09CD3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1876AA8D-9CCA-3D01-715F-EBAE0FD563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B3534DD6-4E00-DE1A-BF3E-41B597B66F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838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9E7ECA21-43C9-6CF9-AF68-869C7B3A6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6E873EFF-11EE-EA50-5108-5D9027D40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55ED6530-5E57-AC67-DE25-E4F9BC9244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69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EDB38F71-E9F6-2A34-88C7-C9D9032E6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39AA932B-D956-E157-ED52-6880FC5603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DFCB843F-CBA5-A80F-EC6F-D5E85FBCE0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08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D3421B37-3451-981F-B7D0-80E73A18B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65C13659-A9DB-F906-EAFE-AFDFEC7A11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C9E8B7BF-5FF8-487F-9647-33AFF7D56F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82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6CCBD256-6F07-621F-C7DC-962E8D3A0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177A2B6D-4DBC-8939-562F-80F8142FC3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969C81A2-C752-16A5-53DA-6E4BD37C8D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2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CAAF57A6-BD64-2052-9BBC-8FA1C4392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19ACAED7-0D36-69B3-EEFB-D06DA4ED1C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6BA048F3-D52F-D649-3BCF-DB731CB451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765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B515D9DF-32C4-CC9C-9F94-C3E968F5C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2FBC3911-6424-9A34-0A25-2433D49880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7152243F-6A71-1746-75B3-3176F0B61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3782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6CA21792-A086-61CC-28C4-247CB9B44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>
            <a:extLst>
              <a:ext uri="{FF2B5EF4-FFF2-40B4-BE49-F238E27FC236}">
                <a16:creationId xmlns:a16="http://schemas.microsoft.com/office/drawing/2014/main" id="{CB8A09F9-6F46-01B7-02D4-F4B84EF8C9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>
            <a:extLst>
              <a:ext uri="{FF2B5EF4-FFF2-40B4-BE49-F238E27FC236}">
                <a16:creationId xmlns:a16="http://schemas.microsoft.com/office/drawing/2014/main" id="{341FBC77-7F95-9B7E-3F6E-2023F45D15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63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55F6126A-D5CB-EF92-17D2-47D228EA2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>
            <a:extLst>
              <a:ext uri="{FF2B5EF4-FFF2-40B4-BE49-F238E27FC236}">
                <a16:creationId xmlns:a16="http://schemas.microsoft.com/office/drawing/2014/main" id="{0E98AE45-4704-68EB-D407-470C708C00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>
            <a:extLst>
              <a:ext uri="{FF2B5EF4-FFF2-40B4-BE49-F238E27FC236}">
                <a16:creationId xmlns:a16="http://schemas.microsoft.com/office/drawing/2014/main" id="{242486A2-78FF-603C-339C-7802047E82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032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717833C3-D6D3-7E32-F64E-2F4DBC8F3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3657A6AA-FCE5-A6CE-38D4-1A6BE6E807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4947C61B-B415-53BA-CD3B-89B77AC091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020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ohamedelnahry/land-type-classification-using-eurosatsentinel-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hahub/NHA-076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ctrTitle"/>
          </p:nvPr>
        </p:nvSpPr>
        <p:spPr>
          <a:xfrm>
            <a:off x="1279164" y="1998683"/>
            <a:ext cx="9939442" cy="167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sz="4800" b="1" dirty="0">
                <a:solidFill>
                  <a:srgbClr val="1869A6"/>
                </a:solidFill>
                <a:latin typeface="+mj-lt"/>
              </a:rPr>
              <a:t>Land Cover Classification Using Sentinel-2 Satellite Imagery</a:t>
            </a:r>
            <a:endParaRPr lang="en-US" sz="4800" b="1" dirty="0">
              <a:solidFill>
                <a:srgbClr val="1869A6"/>
              </a:solidFill>
              <a:effectLst/>
              <a:latin typeface="+mj-lt"/>
            </a:endParaRPr>
          </a:p>
        </p:txBody>
      </p:sp>
      <p:sp>
        <p:nvSpPr>
          <p:cNvPr id="161" name="Google Shape;161;p6"/>
          <p:cNvSpPr txBox="1">
            <a:spLocks noGrp="1"/>
          </p:cNvSpPr>
          <p:nvPr>
            <p:ph type="subTitle" idx="1"/>
          </p:nvPr>
        </p:nvSpPr>
        <p:spPr>
          <a:xfrm>
            <a:off x="2257989" y="3429000"/>
            <a:ext cx="7676021" cy="139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on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EuroSAT </a:t>
            </a:r>
            <a:r>
              <a:rPr lang="en-US" sz="20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from Kaggle </a:t>
            </a:r>
            <a:endParaRPr lang="en-US" sz="2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30/11/25</a:t>
            </a:r>
            <a:endParaRPr dirty="0"/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BDF5E67F-DCF5-2B33-B13E-85D5B9538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>
            <a:extLst>
              <a:ext uri="{FF2B5EF4-FFF2-40B4-BE49-F238E27FC236}">
                <a16:creationId xmlns:a16="http://schemas.microsoft.com/office/drawing/2014/main" id="{E6AC1C4D-8094-86A4-5B9B-B37018D65B3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30/11/25</a:t>
            </a:r>
            <a:endParaRPr dirty="0"/>
          </a:p>
        </p:txBody>
      </p:sp>
      <p:sp>
        <p:nvSpPr>
          <p:cNvPr id="225" name="Google Shape;225;p12">
            <a:extLst>
              <a:ext uri="{FF2B5EF4-FFF2-40B4-BE49-F238E27FC236}">
                <a16:creationId xmlns:a16="http://schemas.microsoft.com/office/drawing/2014/main" id="{9FB470DF-76BF-E3DC-ABCD-E300076FAE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3" name="Google Shape;139;p4">
            <a:extLst>
              <a:ext uri="{FF2B5EF4-FFF2-40B4-BE49-F238E27FC236}">
                <a16:creationId xmlns:a16="http://schemas.microsoft.com/office/drawing/2014/main" id="{46A86AA8-EEB8-E535-C957-CE141607D663}"/>
              </a:ext>
            </a:extLst>
          </p:cNvPr>
          <p:cNvSpPr txBox="1"/>
          <p:nvPr/>
        </p:nvSpPr>
        <p:spPr>
          <a:xfrm>
            <a:off x="0" y="646837"/>
            <a:ext cx="12192000" cy="992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1869A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Team Members 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7626B0-C3D8-7AB7-4FE6-D3FD16178F0A}"/>
              </a:ext>
            </a:extLst>
          </p:cNvPr>
          <p:cNvSpPr/>
          <p:nvPr/>
        </p:nvSpPr>
        <p:spPr>
          <a:xfrm>
            <a:off x="5053118" y="1772207"/>
            <a:ext cx="2085764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1869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Abdulrahman Bassuni</a:t>
            </a:r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algn="ctr"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(Team leader)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A825D3-5330-9765-B069-E139D070B0EB}"/>
              </a:ext>
            </a:extLst>
          </p:cNvPr>
          <p:cNvSpPr/>
          <p:nvPr/>
        </p:nvSpPr>
        <p:spPr>
          <a:xfrm>
            <a:off x="1252496" y="2617877"/>
            <a:ext cx="2085764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1869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Mohamed Osama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B6A1D1F-5A8B-7F0A-9E17-D647DDE7BDC5}"/>
              </a:ext>
            </a:extLst>
          </p:cNvPr>
          <p:cNvSpPr/>
          <p:nvPr/>
        </p:nvSpPr>
        <p:spPr>
          <a:xfrm>
            <a:off x="5053118" y="5046118"/>
            <a:ext cx="2085764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1869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Saif Ismail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095130-6ABE-23C5-51F2-2012A5D0B8CE}"/>
              </a:ext>
            </a:extLst>
          </p:cNvPr>
          <p:cNvSpPr/>
          <p:nvPr/>
        </p:nvSpPr>
        <p:spPr>
          <a:xfrm>
            <a:off x="8853740" y="2617878"/>
            <a:ext cx="2085764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1869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Menna Mohamed</a:t>
            </a:r>
            <a:endParaRPr lang="en-US" sz="1600" b="1" dirty="0">
              <a:solidFill>
                <a:srgbClr val="1869A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CC3708-C0A4-93C8-4129-B19D5DB423B8}"/>
              </a:ext>
            </a:extLst>
          </p:cNvPr>
          <p:cNvSpPr/>
          <p:nvPr/>
        </p:nvSpPr>
        <p:spPr>
          <a:xfrm>
            <a:off x="2538519" y="3920747"/>
            <a:ext cx="2085764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1869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Abdullah Bassuni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CDD2B0-EB51-69C8-D6EC-FC8465F08F56}"/>
              </a:ext>
            </a:extLst>
          </p:cNvPr>
          <p:cNvSpPr/>
          <p:nvPr/>
        </p:nvSpPr>
        <p:spPr>
          <a:xfrm>
            <a:off x="7567720" y="3928110"/>
            <a:ext cx="2085764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1869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Nour Ahmed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15D6B8-DDEA-797C-96E3-DE3FE988074C}"/>
              </a:ext>
            </a:extLst>
          </p:cNvPr>
          <p:cNvCxnSpPr>
            <a:stCxn id="4" idx="2"/>
            <a:endCxn id="4" idx="2"/>
          </p:cNvCxnSpPr>
          <p:nvPr/>
        </p:nvCxnSpPr>
        <p:spPr>
          <a:xfrm>
            <a:off x="6096000" y="268660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60BBEF8-CEA0-76EA-B8C8-3A8A0D02D5FE}"/>
              </a:ext>
            </a:extLst>
          </p:cNvPr>
          <p:cNvCxnSpPr>
            <a:stCxn id="4" idx="1"/>
            <a:endCxn id="5" idx="3"/>
          </p:cNvCxnSpPr>
          <p:nvPr/>
        </p:nvCxnSpPr>
        <p:spPr>
          <a:xfrm rot="10800000" flipV="1">
            <a:off x="3338260" y="2229407"/>
            <a:ext cx="1714858" cy="845670"/>
          </a:xfrm>
          <a:prstGeom prst="bentConnector3">
            <a:avLst/>
          </a:prstGeom>
          <a:ln>
            <a:solidFill>
              <a:srgbClr val="1869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377EE35-3F0C-DFD8-1BC2-FB8AD9074536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7138882" y="2229407"/>
            <a:ext cx="1714858" cy="845671"/>
          </a:xfrm>
          <a:prstGeom prst="bentConnector3">
            <a:avLst/>
          </a:prstGeom>
          <a:ln>
            <a:solidFill>
              <a:srgbClr val="1869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97D764C-626A-0ED2-C75D-0B07DCC7F117}"/>
              </a:ext>
            </a:extLst>
          </p:cNvPr>
          <p:cNvCxnSpPr>
            <a:cxnSpLocks/>
            <a:stCxn id="2" idx="3"/>
            <a:endCxn id="9" idx="2"/>
          </p:cNvCxnSpPr>
          <p:nvPr/>
        </p:nvCxnSpPr>
        <p:spPr>
          <a:xfrm flipV="1">
            <a:off x="7138882" y="4842510"/>
            <a:ext cx="1471720" cy="660808"/>
          </a:xfrm>
          <a:prstGeom prst="bentConnector2">
            <a:avLst/>
          </a:prstGeom>
          <a:ln>
            <a:solidFill>
              <a:srgbClr val="1869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D76F5A5-5062-C80D-FC4A-44750B646B89}"/>
              </a:ext>
            </a:extLst>
          </p:cNvPr>
          <p:cNvCxnSpPr>
            <a:stCxn id="7" idx="2"/>
            <a:endCxn id="9" idx="3"/>
          </p:cNvCxnSpPr>
          <p:nvPr/>
        </p:nvCxnSpPr>
        <p:spPr>
          <a:xfrm rot="5400000">
            <a:off x="9348537" y="3837225"/>
            <a:ext cx="853032" cy="243138"/>
          </a:xfrm>
          <a:prstGeom prst="bentConnector2">
            <a:avLst/>
          </a:prstGeom>
          <a:ln>
            <a:solidFill>
              <a:srgbClr val="1869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FD7ED14-F583-42A0-45C9-485111CD677B}"/>
              </a:ext>
            </a:extLst>
          </p:cNvPr>
          <p:cNvCxnSpPr>
            <a:stCxn id="5" idx="2"/>
            <a:endCxn id="8" idx="1"/>
          </p:cNvCxnSpPr>
          <p:nvPr/>
        </p:nvCxnSpPr>
        <p:spPr>
          <a:xfrm rot="16200000" flipH="1">
            <a:off x="1994113" y="3833541"/>
            <a:ext cx="845670" cy="243141"/>
          </a:xfrm>
          <a:prstGeom prst="bentConnector2">
            <a:avLst/>
          </a:prstGeom>
          <a:ln>
            <a:solidFill>
              <a:srgbClr val="1869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CA6F31BD-463F-7A29-6F4C-72E60EC5B1DC}"/>
              </a:ext>
            </a:extLst>
          </p:cNvPr>
          <p:cNvCxnSpPr>
            <a:stCxn id="8" idx="2"/>
            <a:endCxn id="2" idx="1"/>
          </p:cNvCxnSpPr>
          <p:nvPr/>
        </p:nvCxnSpPr>
        <p:spPr>
          <a:xfrm rot="16200000" flipH="1">
            <a:off x="3983174" y="4433373"/>
            <a:ext cx="668171" cy="1471717"/>
          </a:xfrm>
          <a:prstGeom prst="bentConnector2">
            <a:avLst/>
          </a:prstGeom>
          <a:ln>
            <a:solidFill>
              <a:srgbClr val="1869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298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CFE9BF7F-73E7-CD56-8662-BAF273078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>
            <a:extLst>
              <a:ext uri="{FF2B5EF4-FFF2-40B4-BE49-F238E27FC236}">
                <a16:creationId xmlns:a16="http://schemas.microsoft.com/office/drawing/2014/main" id="{44ED3E51-E2B4-389D-288C-6B5F9A51443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30/11/25</a:t>
            </a:r>
            <a:endParaRPr dirty="0"/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04E097BB-2BB9-C5F2-9EAA-824C51B903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39" name="Google Shape;139;p4">
            <a:extLst>
              <a:ext uri="{FF2B5EF4-FFF2-40B4-BE49-F238E27FC236}">
                <a16:creationId xmlns:a16="http://schemas.microsoft.com/office/drawing/2014/main" id="{8ACB24BC-7785-B7FA-177E-CDA82C817750}"/>
              </a:ext>
            </a:extLst>
          </p:cNvPr>
          <p:cNvSpPr txBox="1"/>
          <p:nvPr/>
        </p:nvSpPr>
        <p:spPr>
          <a:xfrm>
            <a:off x="572731" y="1164579"/>
            <a:ext cx="4404851" cy="97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36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191EA0-15CD-C3ED-ED33-00DB3A4FB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A536A8-1F6C-DFC5-AA80-CEA9730F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2970" y="1866607"/>
            <a:ext cx="4906299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Deployment &amp; Live Web Application 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Target Users &amp; Real-World Use Cases 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Tools &amp; Technologies Used 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Project Timeline &amp; Deliverables 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Live Demo 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Conclusion &amp; Q&amp;A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AB9FC0-7834-7F48-8E95-C435DB7A274D}"/>
              </a:ext>
            </a:extLst>
          </p:cNvPr>
          <p:cNvSpPr txBox="1"/>
          <p:nvPr/>
        </p:nvSpPr>
        <p:spPr>
          <a:xfrm>
            <a:off x="838200" y="1872284"/>
            <a:ext cx="5766617" cy="3780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Introduction &amp; Team Members 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Problem Statement &amp; Challenges 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Our Unique Value Proposition 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Dataset Overview (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EuroSAT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) 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Methodology &amp; Model Development (ResNet-50) 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Final Model Performance (99.13% Accuracy) 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189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30/11/25</a:t>
            </a:r>
          </a:p>
        </p:txBody>
      </p:sp>
      <p:sp>
        <p:nvSpPr>
          <p:cNvPr id="117" name="Google Shape;11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BE9A1-F37C-2A8D-BACB-F2663E079AA9}"/>
              </a:ext>
            </a:extLst>
          </p:cNvPr>
          <p:cNvSpPr txBox="1"/>
          <p:nvPr/>
        </p:nvSpPr>
        <p:spPr>
          <a:xfrm>
            <a:off x="953728" y="1726587"/>
            <a:ext cx="99404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Accurate and automated land cover classification from satellite imagery remains difficult due to:</a:t>
            </a:r>
          </a:p>
          <a:p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High visual similarity between certain classes (e.g., highways vs. permanent crops, industrial vs. residential areas).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Variations in lighting, atmospheric conditions, clouds, and seasonal changes in Sentinel-2 images.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Large-scale, real-world diversity across Europe (27,000 images covering forests, rivers, cities, farms, etc.).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Need for a fully automatic system that works reliably with freely available RGB satellite data (no expensive multispectral or commercial imagery).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576CA9-1269-70AE-3304-8113BC644C4D}"/>
              </a:ext>
            </a:extLst>
          </p:cNvPr>
          <p:cNvSpPr txBox="1"/>
          <p:nvPr/>
        </p:nvSpPr>
        <p:spPr>
          <a:xfrm>
            <a:off x="953728" y="4615735"/>
            <a:ext cx="8295966" cy="11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Most published models on EuroSAT achieved 98.0–98.9% accuracy.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Many required complex preprocessing, extra bands (NDVI, etc.), or heavier models.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Real-world deployment was still slow and inconsistent.</a:t>
            </a:r>
          </a:p>
        </p:txBody>
      </p:sp>
      <p:sp>
        <p:nvSpPr>
          <p:cNvPr id="10" name="Google Shape;118;p2"/>
          <p:cNvSpPr txBox="1"/>
          <p:nvPr/>
        </p:nvSpPr>
        <p:spPr>
          <a:xfrm>
            <a:off x="759542" y="1223973"/>
            <a:ext cx="84581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Challenge:</a:t>
            </a:r>
          </a:p>
        </p:txBody>
      </p:sp>
      <p:sp>
        <p:nvSpPr>
          <p:cNvPr id="11" name="Google Shape;118;p2">
            <a:extLst>
              <a:ext uri="{FF2B5EF4-FFF2-40B4-BE49-F238E27FC236}">
                <a16:creationId xmlns:a16="http://schemas.microsoft.com/office/drawing/2014/main" id="{B0ACC6BA-16BB-C17D-408E-5B35C27212CB}"/>
              </a:ext>
            </a:extLst>
          </p:cNvPr>
          <p:cNvSpPr txBox="1"/>
          <p:nvPr/>
        </p:nvSpPr>
        <p:spPr>
          <a:xfrm>
            <a:off x="759541" y="4158535"/>
            <a:ext cx="84581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previous approaches struggled: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283EA4BE-7877-9061-D772-5A674B639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728202D7-541C-E212-6BD7-1F1A07EBF64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30/11/25</a:t>
            </a:r>
          </a:p>
        </p:txBody>
      </p: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6BC582D6-5CBB-C43A-147E-00F2D45670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  <p:sp>
        <p:nvSpPr>
          <p:cNvPr id="25" name="Google Shape;118;p2">
            <a:extLst>
              <a:ext uri="{FF2B5EF4-FFF2-40B4-BE49-F238E27FC236}">
                <a16:creationId xmlns:a16="http://schemas.microsoft.com/office/drawing/2014/main" id="{94F4EBC5-726C-C12F-0F72-D4F659ADD683}"/>
              </a:ext>
            </a:extLst>
          </p:cNvPr>
          <p:cNvSpPr txBox="1"/>
          <p:nvPr/>
        </p:nvSpPr>
        <p:spPr>
          <a:xfrm>
            <a:off x="746107" y="3267315"/>
            <a:ext cx="84581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Unique Value Proposition: 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472E973-5FB3-B9F9-4B64-89B3C3E17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914" y="3925474"/>
            <a:ext cx="6838732" cy="1893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/>
              <a:t>99.13% accuracy – highest reported on full EuroSAT benchmark 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/>
              <a:t>Uses only free Sentinel-2 RGB images (no extra bands, no paid data).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/>
              <a:t>Fully automatic classification in milliseconds 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/>
              <a:t>Lightweight ResNet-50 – runs on CPU, exportable to ONNX/TFLite.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/>
              <a:t>Ready for real-time land monitoring &amp; GIS integration worldwide 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339E7-45DB-7492-9061-546A1616A00B}"/>
              </a:ext>
            </a:extLst>
          </p:cNvPr>
          <p:cNvSpPr txBox="1"/>
          <p:nvPr/>
        </p:nvSpPr>
        <p:spPr>
          <a:xfrm>
            <a:off x="746107" y="135661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this project solved: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E889BD-1927-751E-DFC7-D17ADA3F2A07}"/>
              </a:ext>
            </a:extLst>
          </p:cNvPr>
          <p:cNvSpPr txBox="1"/>
          <p:nvPr/>
        </p:nvSpPr>
        <p:spPr>
          <a:xfrm>
            <a:off x="1064342" y="2019916"/>
            <a:ext cx="979292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Achieved 99.13% test accuracy on the full EuroSAT benchmark using only standard RGB bands from Sentinel-2 and a single fine-tuned ResNet-50 — proving that near-perfect, fully automated land cover classification is now possible with free, globally available satellite imagery.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699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C3DF9902-EC3A-8E99-BD1B-4F32C7AEB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D7D9184C-F606-7BB0-B3DC-CF6C39CF9BD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30/11/25</a:t>
            </a:r>
            <a:endParaRPr dirty="0"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C5CB71A8-B262-7F6C-5091-774A1E7779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" name="Google Shape;118;p2">
            <a:extLst>
              <a:ext uri="{FF2B5EF4-FFF2-40B4-BE49-F238E27FC236}">
                <a16:creationId xmlns:a16="http://schemas.microsoft.com/office/drawing/2014/main" id="{6153AAA4-C745-A9F7-EA4D-5B0BF59602BA}"/>
              </a:ext>
            </a:extLst>
          </p:cNvPr>
          <p:cNvSpPr txBox="1"/>
          <p:nvPr/>
        </p:nvSpPr>
        <p:spPr>
          <a:xfrm>
            <a:off x="838200" y="1299676"/>
            <a:ext cx="84581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 Users</a:t>
            </a:r>
            <a:r>
              <a:rPr lang="ar-EG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4" name="Google Shape;118;p2">
            <a:extLst>
              <a:ext uri="{FF2B5EF4-FFF2-40B4-BE49-F238E27FC236}">
                <a16:creationId xmlns:a16="http://schemas.microsoft.com/office/drawing/2014/main" id="{044C51E3-E709-3BCD-3430-6F33124F0728}"/>
              </a:ext>
            </a:extLst>
          </p:cNvPr>
          <p:cNvSpPr txBox="1"/>
          <p:nvPr/>
        </p:nvSpPr>
        <p:spPr>
          <a:xfrm>
            <a:off x="926689" y="3917943"/>
            <a:ext cx="84581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Functionalities</a:t>
            </a:r>
            <a:r>
              <a:rPr lang="ar-EG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D67F668-F52D-10F9-C969-8E1438BF5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010" y="4490185"/>
            <a:ext cx="9357856" cy="152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</a:pPr>
            <a:r>
              <a:rPr lang="en-US" sz="1600" dirty="0"/>
              <a:t>• Instant classification of Sentinel-2 images into 10 land cover types.</a:t>
            </a:r>
            <a:endParaRPr lang="ar-EG" sz="1600" dirty="0"/>
          </a:p>
          <a:p>
            <a:pPr algn="just" eaLnBrk="0" fontAlgn="base" hangingPunct="0">
              <a:lnSpc>
                <a:spcPct val="150000"/>
              </a:lnSpc>
            </a:pPr>
            <a:r>
              <a:rPr lang="en-US" sz="1600" dirty="0"/>
              <a:t>• 99.13% accuracy using only free RGB data.</a:t>
            </a:r>
            <a:endParaRPr lang="ar-EG" sz="1600" dirty="0"/>
          </a:p>
          <a:p>
            <a:pPr algn="just" eaLnBrk="0" fontAlgn="base" hangingPunct="0">
              <a:lnSpc>
                <a:spcPct val="150000"/>
              </a:lnSpc>
            </a:pPr>
            <a:r>
              <a:rPr lang="en-US" sz="1600" dirty="0"/>
              <a:t>• Works on any new satellite image without retraining • Runs in milliseconds even on regular laptops.</a:t>
            </a:r>
            <a:endParaRPr lang="ar-EG" sz="1600" dirty="0"/>
          </a:p>
          <a:p>
            <a:pPr algn="just" eaLnBrk="0" fontAlgn="base" hangingPunct="0">
              <a:lnSpc>
                <a:spcPct val="150000"/>
              </a:lnSpc>
            </a:pPr>
            <a:r>
              <a:rPr lang="en-US" sz="1600" dirty="0"/>
              <a:t>• Outputs ready for QGIS, ArcGIS, or web dashboards.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CA8B0E-5C2E-E2C1-FF5B-9A16CD9FA66E}"/>
              </a:ext>
            </a:extLst>
          </p:cNvPr>
          <p:cNvSpPr txBox="1"/>
          <p:nvPr/>
        </p:nvSpPr>
        <p:spPr>
          <a:xfrm>
            <a:off x="1025010" y="1791022"/>
            <a:ext cx="981013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buFont typeface="Arial" panose="020B0604020202020204" pitchFamily="34" charset="0"/>
              <a:buChar char="•"/>
            </a:pPr>
            <a:r>
              <a:rPr lang="en-US" altLang="en-US" sz="1600" b="1" dirty="0"/>
              <a:t>Government environmental &amp; urban planning agencies </a:t>
            </a:r>
            <a:r>
              <a:rPr lang="en-US" altLang="en-US" sz="1600" dirty="0"/>
              <a:t>Detect illegal constructions and update city land-use maps automatically every 5 days. </a:t>
            </a:r>
          </a:p>
          <a:p>
            <a:pPr marL="285750" lvl="0" indent="-285750" algn="just" eaLnBrk="0" fontAlgn="base" hangingPunct="0">
              <a:buFont typeface="Arial" panose="020B0604020202020204" pitchFamily="34" charset="0"/>
              <a:buChar char="•"/>
            </a:pPr>
            <a:r>
              <a:rPr lang="en-US" altLang="en-US" sz="1600" b="1" dirty="0"/>
              <a:t>Agricultural and disaster management authorities </a:t>
            </a:r>
            <a:r>
              <a:rPr lang="en-US" altLang="en-US" sz="1600" dirty="0"/>
              <a:t>Instantly classify crop types and assess flood/fire damage from new satellite images. </a:t>
            </a:r>
          </a:p>
          <a:p>
            <a:pPr marL="285750" lvl="0" indent="-285750" algn="just" eaLnBrk="0" fontAlgn="base" hangingPunct="0">
              <a:buFont typeface="Arial" panose="020B0604020202020204" pitchFamily="34" charset="0"/>
              <a:buChar char="•"/>
            </a:pPr>
            <a:r>
              <a:rPr lang="en-US" altLang="en-US" sz="1600" b="1" dirty="0"/>
              <a:t>NGOs and climate research organizations </a:t>
            </a:r>
            <a:r>
              <a:rPr lang="en-US" altLang="en-US" sz="1600" dirty="0"/>
              <a:t>Monitor deforestation and produce accurate SDG-15 reports using free global data. </a:t>
            </a:r>
          </a:p>
          <a:p>
            <a:pPr marL="285750" lvl="0" indent="-285750" algn="just" eaLnBrk="0" fontAlgn="base" hangingPunct="0">
              <a:buFont typeface="Arial" panose="020B0604020202020204" pitchFamily="34" charset="0"/>
              <a:buChar char="•"/>
            </a:pPr>
            <a:r>
              <a:rPr lang="en-US" altLang="en-US" sz="1600" b="1" dirty="0"/>
              <a:t>GIS and remote sensing professionals worldwide </a:t>
            </a:r>
            <a:r>
              <a:rPr lang="en-US" altLang="en-US" sz="1600" dirty="0"/>
              <a:t>Plug the model into QGIS/ArcGIS to generate up-to-date land cover layers in one click. </a:t>
            </a:r>
          </a:p>
        </p:txBody>
      </p:sp>
    </p:spTree>
    <p:extLst>
      <p:ext uri="{BB962C8B-B14F-4D97-AF65-F5344CB8AC3E}">
        <p14:creationId xmlns:p14="http://schemas.microsoft.com/office/powerpoint/2010/main" val="2231970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30/11/25</a:t>
            </a:r>
            <a:endParaRPr dirty="0"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816CEB-4CFB-5C6B-E27E-1CD568325781}"/>
              </a:ext>
            </a:extLst>
          </p:cNvPr>
          <p:cNvSpPr txBox="1"/>
          <p:nvPr/>
        </p:nvSpPr>
        <p:spPr>
          <a:xfrm>
            <a:off x="1231489" y="2135611"/>
            <a:ext cx="3490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AFAD5E-2333-83F5-7C2E-249154548186}"/>
              </a:ext>
            </a:extLst>
          </p:cNvPr>
          <p:cNvSpPr txBox="1"/>
          <p:nvPr/>
        </p:nvSpPr>
        <p:spPr>
          <a:xfrm>
            <a:off x="2821858" y="967484"/>
            <a:ext cx="6213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869A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Dataset &amp; Data Structure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340E80E-0D3E-CBD3-BE30-7C47EA25D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6560" y="1743196"/>
            <a:ext cx="5544343" cy="3788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 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EuroSAT (Sentinel-2 RGB).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Images: 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27,000 (64×64 pixels).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Classes: 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 land cover types.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 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 satellite imagery.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Link: </a:t>
            </a:r>
            <a:r>
              <a:rPr lang="en-US" alt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https://www.kaggle.com/datasets/mohamedelnahry/land-type-classification-using-eurosatsentinel-2</a:t>
            </a:r>
            <a:endParaRPr lang="en-US" alt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B9D724-B189-5E1B-47EC-861E458F91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115" b="12344"/>
          <a:stretch>
            <a:fillRect/>
          </a:stretch>
        </p:blipFill>
        <p:spPr>
          <a:xfrm>
            <a:off x="6703143" y="2004381"/>
            <a:ext cx="4426975" cy="42274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6CB1DA3E-5999-157A-1F6C-2EAA1455C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7476C46D-4A47-3224-21E8-F91D7AFF2D7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30/11/25</a:t>
            </a:r>
            <a:endParaRPr dirty="0"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E7B802B4-2D62-15A9-3D3F-57B16E341B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3F219C-63EB-CF32-0BE0-847518876416}"/>
              </a:ext>
            </a:extLst>
          </p:cNvPr>
          <p:cNvSpPr txBox="1"/>
          <p:nvPr/>
        </p:nvSpPr>
        <p:spPr>
          <a:xfrm>
            <a:off x="2821858" y="967484"/>
            <a:ext cx="6213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869A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Dataset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0798F9-EA85-0360-87E1-4278A2087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91" y="1946902"/>
            <a:ext cx="1980427" cy="213276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F61D298-AB9E-173C-6BA2-36C0F2DE0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4648" y="1946902"/>
            <a:ext cx="1984248" cy="216741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0C2987F-F97B-1127-76FC-1013D67857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9315" y="1917235"/>
            <a:ext cx="1984248" cy="21231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22BDF12-1B57-9793-748A-63B4397DDA0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693"/>
          <a:stretch>
            <a:fillRect/>
          </a:stretch>
        </p:blipFill>
        <p:spPr>
          <a:xfrm>
            <a:off x="7186736" y="1915975"/>
            <a:ext cx="1984248" cy="20447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60D88EA-EE9C-A2F6-3BD5-0AA4EDA249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0984" y="1896920"/>
            <a:ext cx="1984248" cy="214350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6F1A6C1-4E89-5D3F-5FDE-6396108F49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191" y="4040424"/>
            <a:ext cx="1984248" cy="21269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DAF3511-29D3-9F8C-546C-FB633AB2C6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54648" y="4040424"/>
            <a:ext cx="1984248" cy="213155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0F8EDC3-7183-1E9A-05B1-CCB51C77EE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9315" y="4085873"/>
            <a:ext cx="1984248" cy="214021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442085A-EE74-8B58-C13E-2DCCB2DB8E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86736" y="4114312"/>
            <a:ext cx="1984248" cy="209664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282AEA0-0D25-24BA-3B18-FA4D51FDCC8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70984" y="4044424"/>
            <a:ext cx="1984248" cy="210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76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BBE6825D-EAED-0343-B64C-46A9820EC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6A30DBF5-5394-EAAF-DE0E-A6A4BF01DC6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30/11/25</a:t>
            </a:r>
            <a:endParaRPr dirty="0"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C60B6DB3-FB4C-DD31-3F48-E422C457D6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E6341F-B35A-4D75-7930-1251298290B3}"/>
              </a:ext>
            </a:extLst>
          </p:cNvPr>
          <p:cNvSpPr txBox="1"/>
          <p:nvPr/>
        </p:nvSpPr>
        <p:spPr>
          <a:xfrm>
            <a:off x="560437" y="2151727"/>
            <a:ext cx="9773265" cy="3370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we focused heavily on deployment – because achieving 99.13% on a benchmark is great, but real impact comes when the model is actually used in the real world.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We built a live web application using </a:t>
            </a:r>
            <a:r>
              <a:rPr lang="en-US" sz="1600" dirty="0" err="1"/>
              <a:t>Streamlit</a:t>
            </a:r>
            <a:r>
              <a:rPr lang="en-US" sz="1600" dirty="0"/>
              <a:t> that is publicly accessible right now. Anyone, anywhere, can upload a new Sentinel-2 RGB image – even one that the model has never seen before – and get an instant classification into one of the 10 land cover classes in less than a second.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model is lightweight (fine-tuned ResNet-50), runs efficiently on CPU, and we exported it to ONNX and TensorFlow Lite formats.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6F98E8-5764-D2BA-B88F-4B7331F4C878}"/>
              </a:ext>
            </a:extLst>
          </p:cNvPr>
          <p:cNvSpPr txBox="1"/>
          <p:nvPr/>
        </p:nvSpPr>
        <p:spPr>
          <a:xfrm>
            <a:off x="2831690" y="895801"/>
            <a:ext cx="679409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869A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Deployment</a:t>
            </a:r>
            <a:r>
              <a:rPr lang="en-US" dirty="0"/>
              <a:t> </a:t>
            </a:r>
            <a:r>
              <a:rPr lang="en-US" sz="3600" b="1" dirty="0">
                <a:solidFill>
                  <a:srgbClr val="1869A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&amp; Live</a:t>
            </a:r>
            <a:r>
              <a:rPr lang="en-US" dirty="0"/>
              <a:t> </a:t>
            </a:r>
            <a:r>
              <a:rPr lang="en-US" sz="3600" b="1" dirty="0">
                <a:solidFill>
                  <a:srgbClr val="1869A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Web</a:t>
            </a:r>
            <a:r>
              <a:rPr lang="en-US" dirty="0"/>
              <a:t> </a:t>
            </a:r>
            <a:r>
              <a:rPr lang="en-US" sz="3600" b="1" dirty="0">
                <a:solidFill>
                  <a:srgbClr val="1869A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661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F22626D7-8208-89DD-6657-F58AB88A9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E74A1985-9A39-5022-C033-AB0BC52DFF4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30/11/25</a:t>
            </a:r>
            <a:endParaRPr dirty="0"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42E1C47E-A705-B1DB-80CB-2707C54E8D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CC1C75-5E37-BF2A-66BF-1EFD3FE42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890" y="1804967"/>
            <a:ext cx="8814816" cy="42095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71B75E-A14C-0CD8-F313-3FCF96E803E3}"/>
              </a:ext>
            </a:extLst>
          </p:cNvPr>
          <p:cNvSpPr txBox="1"/>
          <p:nvPr/>
        </p:nvSpPr>
        <p:spPr>
          <a:xfrm>
            <a:off x="2772698" y="843452"/>
            <a:ext cx="656794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869A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Final</a:t>
            </a:r>
            <a:r>
              <a:rPr lang="en-US" dirty="0"/>
              <a:t> </a:t>
            </a:r>
            <a:r>
              <a:rPr lang="ar-EG" dirty="0"/>
              <a:t> </a:t>
            </a:r>
            <a:r>
              <a:rPr lang="en-US" sz="3600" b="1" dirty="0">
                <a:solidFill>
                  <a:srgbClr val="1869A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lang="en-US" dirty="0"/>
              <a:t> </a:t>
            </a:r>
            <a:r>
              <a:rPr lang="ar-EG" dirty="0"/>
              <a:t> </a:t>
            </a:r>
            <a:r>
              <a:rPr lang="en-US" sz="3600" b="1" dirty="0">
                <a:solidFill>
                  <a:srgbClr val="1869A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Performance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239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31F01522-A54D-84F1-C48F-D913718B7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8409CA49-EA4A-6B0C-6AE3-2599AEA8488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30/11/25</a:t>
            </a:r>
            <a:endParaRPr dirty="0"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C4BBC3D5-DD47-D16C-C366-00036593AF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EC862A-282F-F6B5-339A-E4DC5C176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506" y="1691147"/>
            <a:ext cx="8817219" cy="44599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E6FDF9-5923-7A30-A68A-F8C4EFD08156}"/>
              </a:ext>
            </a:extLst>
          </p:cNvPr>
          <p:cNvSpPr txBox="1"/>
          <p:nvPr/>
        </p:nvSpPr>
        <p:spPr>
          <a:xfrm>
            <a:off x="2769670" y="706926"/>
            <a:ext cx="68235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869A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Live Web Application Demo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375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DCCD60A4-81B9-D9CF-EE45-E0A88EFC0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69671B0B-99FA-1A47-1E46-5E13A7A11EE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30/11/25</a:t>
            </a:r>
            <a:endParaRPr dirty="0"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17899605-9AB3-935A-0315-3BFBE50E76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EC4EF3-9C5A-769F-0F69-6A870FEEA35A}"/>
              </a:ext>
            </a:extLst>
          </p:cNvPr>
          <p:cNvSpPr txBox="1"/>
          <p:nvPr/>
        </p:nvSpPr>
        <p:spPr>
          <a:xfrm>
            <a:off x="838200" y="1386416"/>
            <a:ext cx="7458781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fontAlgn="base" hangingPunct="0">
              <a:lnSpc>
                <a:spcPct val="150000"/>
              </a:lnSpc>
            </a:pP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600" b="1" dirty="0"/>
              <a:t>Python</a:t>
            </a:r>
            <a:r>
              <a:rPr lang="en-US" sz="1600" dirty="0"/>
              <a:t> – Main language for analysis, modeling, and deployment.</a:t>
            </a:r>
          </a:p>
          <a:p>
            <a:pPr algn="just" eaLnBrk="0" fontAlgn="base" hangingPunct="0">
              <a:lnSpc>
                <a:spcPct val="150000"/>
              </a:lnSpc>
              <a:buFont typeface="Arial"/>
              <a:buNone/>
            </a:pPr>
            <a:br>
              <a:rPr lang="en-US" sz="1600" dirty="0"/>
            </a:b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1D6F9-9559-483F-9238-67BCCEB35286}"/>
              </a:ext>
            </a:extLst>
          </p:cNvPr>
          <p:cNvSpPr txBox="1"/>
          <p:nvPr/>
        </p:nvSpPr>
        <p:spPr>
          <a:xfrm>
            <a:off x="838200" y="2731897"/>
            <a:ext cx="9075174" cy="189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NumPy &amp; Pandas </a:t>
            </a:r>
            <a:r>
              <a:rPr lang="en-US" sz="1600" dirty="0"/>
              <a:t>– Data handling and preprocessing of image datasets.</a:t>
            </a:r>
          </a:p>
          <a:p>
            <a:pPr marL="285750" indent="-28575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Matplotlib &amp; Seaborn </a:t>
            </a:r>
            <a:r>
              <a:rPr lang="en-US" sz="1600" dirty="0"/>
              <a:t>– Visualizing sample images, class distributions, and spectral data.</a:t>
            </a:r>
          </a:p>
          <a:p>
            <a:pPr marL="285750" indent="-28575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Scikit-learn &amp; LightGBM </a:t>
            </a:r>
            <a:r>
              <a:rPr lang="en-US" sz="1600" dirty="0"/>
              <a:t>– Machine learning models for land cover classification.</a:t>
            </a:r>
          </a:p>
          <a:p>
            <a:pPr marL="285750" indent="-28575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TensorFlow / PyTorch </a:t>
            </a:r>
            <a:r>
              <a:rPr lang="en-US" sz="1600" dirty="0"/>
              <a:t>– Deep learning frameworks for CNN-based image classification.</a:t>
            </a:r>
          </a:p>
          <a:p>
            <a:pPr marL="285750" indent="-28575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Streamlit</a:t>
            </a:r>
            <a:r>
              <a:rPr lang="en-US" sz="1600" dirty="0"/>
              <a:t> – Web app framework to deploy the classification model.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6DAFE8-1EF5-4FD5-F701-FCADDB78A24A}"/>
              </a:ext>
            </a:extLst>
          </p:cNvPr>
          <p:cNvSpPr txBox="1"/>
          <p:nvPr/>
        </p:nvSpPr>
        <p:spPr>
          <a:xfrm>
            <a:off x="725128" y="2270232"/>
            <a:ext cx="3490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Frameworks &amp; Libraries: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0E0E04-80D7-9A7D-0018-55B485ED50AF}"/>
              </a:ext>
            </a:extLst>
          </p:cNvPr>
          <p:cNvSpPr txBox="1"/>
          <p:nvPr/>
        </p:nvSpPr>
        <p:spPr>
          <a:xfrm>
            <a:off x="871384" y="5213731"/>
            <a:ext cx="7282016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0" fontAlgn="base" hangingPunct="0">
              <a:lnSpc>
                <a:spcPct val="150000"/>
              </a:lnSpc>
            </a:pPr>
            <a:r>
              <a:rPr lang="en-US" sz="1600" dirty="0"/>
              <a:t>• </a:t>
            </a:r>
            <a:r>
              <a:rPr lang="en-US" sz="1600" b="1" dirty="0"/>
              <a:t>GitHub</a:t>
            </a:r>
            <a:r>
              <a:rPr lang="ar-EG" sz="1600" b="1" dirty="0"/>
              <a:t> &amp; </a:t>
            </a:r>
            <a:r>
              <a:rPr lang="en-US" sz="1600" b="1" dirty="0"/>
              <a:t> Mlflow </a:t>
            </a:r>
            <a:r>
              <a:rPr lang="en-US" sz="1600" dirty="0"/>
              <a:t>– version control and collaboration.</a:t>
            </a:r>
          </a:p>
          <a:p>
            <a:pPr algn="just" eaLnBrk="0" fontAlgn="base" hangingPunct="0">
              <a:lnSpc>
                <a:spcPct val="150000"/>
              </a:lnSpc>
            </a:pPr>
            <a:r>
              <a:rPr lang="en-US" sz="1600" dirty="0"/>
              <a:t>• </a:t>
            </a:r>
            <a:r>
              <a:rPr lang="en-US" sz="1600" b="1" dirty="0"/>
              <a:t>Streamlit Cloud </a:t>
            </a:r>
            <a:r>
              <a:rPr lang="en-US" sz="1600" dirty="0"/>
              <a:t>– Application hosting.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54B937-DD20-5918-5F96-CD0AA74F807C}"/>
              </a:ext>
            </a:extLst>
          </p:cNvPr>
          <p:cNvSpPr txBox="1"/>
          <p:nvPr/>
        </p:nvSpPr>
        <p:spPr>
          <a:xfrm>
            <a:off x="725128" y="1251597"/>
            <a:ext cx="3716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Language: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1D0D12-BC20-0129-6976-711CAAF9F7C7}"/>
              </a:ext>
            </a:extLst>
          </p:cNvPr>
          <p:cNvSpPr txBox="1"/>
          <p:nvPr/>
        </p:nvSpPr>
        <p:spPr>
          <a:xfrm>
            <a:off x="725128" y="4798295"/>
            <a:ext cx="3901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b="1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2400" dirty="0"/>
              <a:t>Supporting Technologies:</a:t>
            </a:r>
          </a:p>
        </p:txBody>
      </p:sp>
    </p:spTree>
    <p:extLst>
      <p:ext uri="{BB962C8B-B14F-4D97-AF65-F5344CB8AC3E}">
        <p14:creationId xmlns:p14="http://schemas.microsoft.com/office/powerpoint/2010/main" val="2930694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99D3FE14-B1E6-C7F1-2739-0783F961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>
            <a:extLst>
              <a:ext uri="{FF2B5EF4-FFF2-40B4-BE49-F238E27FC236}">
                <a16:creationId xmlns:a16="http://schemas.microsoft.com/office/drawing/2014/main" id="{35F8E557-59D8-1C59-C031-0177AAB378B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30/11/25</a:t>
            </a:r>
            <a:endParaRPr dirty="0"/>
          </a:p>
        </p:txBody>
      </p:sp>
      <p:sp>
        <p:nvSpPr>
          <p:cNvPr id="225" name="Google Shape;225;p12">
            <a:extLst>
              <a:ext uri="{FF2B5EF4-FFF2-40B4-BE49-F238E27FC236}">
                <a16:creationId xmlns:a16="http://schemas.microsoft.com/office/drawing/2014/main" id="{264D9D94-D269-6B30-5190-04AA2784F8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4D6C31-9D60-9B0E-9DB3-B14E9B82ED27}"/>
              </a:ext>
            </a:extLst>
          </p:cNvPr>
          <p:cNvSpPr txBox="1"/>
          <p:nvPr/>
        </p:nvSpPr>
        <p:spPr>
          <a:xfrm>
            <a:off x="0" y="64093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1869A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Deliverables</a:t>
            </a:r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B7E7F8-6E72-EECE-5EAC-7AAFFD8E310B}"/>
              </a:ext>
            </a:extLst>
          </p:cNvPr>
          <p:cNvSpPr txBox="1"/>
          <p:nvPr/>
        </p:nvSpPr>
        <p:spPr>
          <a:xfrm>
            <a:off x="838200" y="1528657"/>
            <a:ext cx="427306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Report .</a:t>
            </a:r>
            <a:endParaRPr lang="ar-EG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Analysis Report 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Selection Summary.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and Evaluation Report.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MLOPS Report.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Project Report.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41FB8A-39FC-1A60-682F-C95D6C2D0A00}"/>
              </a:ext>
            </a:extLst>
          </p:cNvPr>
          <p:cNvSpPr txBox="1"/>
          <p:nvPr/>
        </p:nvSpPr>
        <p:spPr>
          <a:xfrm>
            <a:off x="775243" y="3843683"/>
            <a:ext cx="72390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Milestones</a:t>
            </a:r>
            <a:r>
              <a:rPr lang="en-US" sz="20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Deadlines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Milestone 1 (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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</a:t>
            </a:r>
            <a:r>
              <a:rPr lang="ar-EG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ar-EG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0-2025]. 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Milestone 2 (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&amp; features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</a:t>
            </a:r>
            <a:r>
              <a:rPr lang="ar-EG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ar-EG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0-2025].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Milestone 3 (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Development</a:t>
            </a:r>
            <a:r>
              <a:rPr lang="ar-EG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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ar-EG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ar-EG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-2025].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Milestone 4 (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Deployment – Live Web App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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ar-EG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0-11-2025].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Milestone 5 (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report &amp; Presentation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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ar-EG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0-11-2025]. </a:t>
            </a:r>
          </a:p>
        </p:txBody>
      </p:sp>
    </p:spTree>
    <p:extLst>
      <p:ext uri="{BB962C8B-B14F-4D97-AF65-F5344CB8AC3E}">
        <p14:creationId xmlns:p14="http://schemas.microsoft.com/office/powerpoint/2010/main" val="3589530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1CF633B6-CC5B-66C3-317D-5BC5F840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>
            <a:extLst>
              <a:ext uri="{FF2B5EF4-FFF2-40B4-BE49-F238E27FC236}">
                <a16:creationId xmlns:a16="http://schemas.microsoft.com/office/drawing/2014/main" id="{15933DB2-B4FA-F1EB-BCA0-C4562318B59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30/11/25</a:t>
            </a:r>
            <a:endParaRPr dirty="0"/>
          </a:p>
        </p:txBody>
      </p:sp>
      <p:sp>
        <p:nvSpPr>
          <p:cNvPr id="225" name="Google Shape;225;p12">
            <a:extLst>
              <a:ext uri="{FF2B5EF4-FFF2-40B4-BE49-F238E27FC236}">
                <a16:creationId xmlns:a16="http://schemas.microsoft.com/office/drawing/2014/main" id="{9D6B14D9-55C1-7CF5-0EB1-70FC013872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E5730-38E8-2AFA-6E60-1C7ED177101A}"/>
              </a:ext>
            </a:extLst>
          </p:cNvPr>
          <p:cNvSpPr txBox="1"/>
          <p:nvPr/>
        </p:nvSpPr>
        <p:spPr>
          <a:xfrm>
            <a:off x="0" y="64093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1869A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Deliverables</a:t>
            </a:r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8310E-0101-5553-BEF3-75E881AAB527}"/>
              </a:ext>
            </a:extLst>
          </p:cNvPr>
          <p:cNvSpPr txBox="1"/>
          <p:nvPr/>
        </p:nvSpPr>
        <p:spPr>
          <a:xfrm>
            <a:off x="977243" y="3580838"/>
            <a:ext cx="89560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Live web demo available at: </a:t>
            </a:r>
            <a:r>
              <a:rPr lang="en-US" sz="2000" b="1" dirty="0">
                <a:hlinkClick r:id="rId3"/>
              </a:rPr>
              <a:t>https://github.com/nhahub/NHA-076</a:t>
            </a:r>
            <a:endParaRPr lang="en-US" sz="1800" dirty="0"/>
          </a:p>
          <a:p>
            <a:pPr marL="285750" indent="-285750">
              <a:buFontTx/>
              <a:buChar char="‾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‾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1003D3-0269-5053-50BF-84B68C4C4437}"/>
              </a:ext>
            </a:extLst>
          </p:cNvPr>
          <p:cNvSpPr txBox="1"/>
          <p:nvPr/>
        </p:nvSpPr>
        <p:spPr>
          <a:xfrm>
            <a:off x="763886" y="1693193"/>
            <a:ext cx="6228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Code Repository</a:t>
            </a:r>
            <a:r>
              <a:rPr lang="ar-EG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400" b="1" dirty="0">
                <a:solidFill>
                  <a:srgbClr val="1869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09C00-8A29-8876-0C59-34A2AFA33E8D}"/>
              </a:ext>
            </a:extLst>
          </p:cNvPr>
          <p:cNvSpPr txBox="1"/>
          <p:nvPr/>
        </p:nvSpPr>
        <p:spPr>
          <a:xfrm>
            <a:off x="977243" y="2309205"/>
            <a:ext cx="10592867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 the complete code, trained model, and documentation for 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Sentinel-2 Land Cover Classification (EuroSAT – 99.13% accuracy) project on GitHub: </a:t>
            </a:r>
          </a:p>
        </p:txBody>
      </p:sp>
    </p:spTree>
    <p:extLst>
      <p:ext uri="{BB962C8B-B14F-4D97-AF65-F5344CB8AC3E}">
        <p14:creationId xmlns:p14="http://schemas.microsoft.com/office/powerpoint/2010/main" val="2342589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E227ABBC-84A5-78B9-18D1-FD8B43BA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1D03B8AB-99D4-BAF0-2C7D-C0D709B9E04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16/5/25</a:t>
            </a:r>
            <a:endParaRPr dirty="0"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11337297-0124-E49E-B6CC-B197B3BAE0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00628E-F093-6467-9938-29C7FAEC5AEE}"/>
              </a:ext>
            </a:extLst>
          </p:cNvPr>
          <p:cNvSpPr txBox="1"/>
          <p:nvPr/>
        </p:nvSpPr>
        <p:spPr>
          <a:xfrm>
            <a:off x="3244959" y="759736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1869A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Milestone Breakdown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BE5D4B-4B84-50CB-C300-CC9FD845D450}"/>
              </a:ext>
            </a:extLst>
          </p:cNvPr>
          <p:cNvSpPr txBox="1"/>
          <p:nvPr/>
        </p:nvSpPr>
        <p:spPr>
          <a:xfrm>
            <a:off x="1579878" y="1785231"/>
            <a:ext cx="37691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Milestone 1 – Data Preparation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B0EAA3C-2E17-AE1B-FEB9-31C8176F3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878" y="2505671"/>
            <a:ext cx="416216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Mohamed &amp; Seif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Abdallah 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 Nour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Menna &amp; 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Abdulrahman.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FBDFFD-F972-B72A-25CC-471DD1B9243D}"/>
              </a:ext>
            </a:extLst>
          </p:cNvPr>
          <p:cNvSpPr txBox="1"/>
          <p:nvPr/>
        </p:nvSpPr>
        <p:spPr>
          <a:xfrm>
            <a:off x="6619731" y="1785231"/>
            <a:ext cx="37691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Milestone 2 –Analysis &amp;Features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FE0CE0-BCEA-859D-949C-45170F0A4BAA}"/>
              </a:ext>
            </a:extLst>
          </p:cNvPr>
          <p:cNvSpPr txBox="1"/>
          <p:nvPr/>
        </p:nvSpPr>
        <p:spPr>
          <a:xfrm>
            <a:off x="1579879" y="4003574"/>
            <a:ext cx="39776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Milestone 3 – Model  Development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C05ABF-D2F7-89D7-42F6-5503C487BD84}"/>
              </a:ext>
            </a:extLst>
          </p:cNvPr>
          <p:cNvSpPr txBox="1"/>
          <p:nvPr/>
        </p:nvSpPr>
        <p:spPr>
          <a:xfrm>
            <a:off x="6761643" y="4003574"/>
            <a:ext cx="3220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Milestone 4 – Deployment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C9B1858-5AD6-07F6-58AD-7C374F90C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642" y="2496213"/>
            <a:ext cx="466344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Analysis: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seif &amp; 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Abdulrahman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Engineering: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Mohamed &amp; 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Abdallah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Menna &amp; Nour.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82A341F7-1130-B955-930F-51B22A573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878" y="4728422"/>
            <a:ext cx="438912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Training: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Mohamed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Hyperparameter Tuning: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Seif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Nour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7840B98-68EF-86E5-202D-CA6D429A0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642" y="4728421"/>
            <a:ext cx="438912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MLOP</a:t>
            </a:r>
            <a:r>
              <a:rPr lang="en-US" altLang="en-US" sz="18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Abdallah &amp; 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Abdulrahman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Mohamed &amp; Seif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7040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30/11/25</a:t>
            </a:r>
            <a:endParaRPr dirty="0"/>
          </a:p>
        </p:txBody>
      </p:sp>
      <p:sp>
        <p:nvSpPr>
          <p:cNvPr id="137" name="Google Shape;1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-157316" y="2118308"/>
            <a:ext cx="12191999" cy="97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ctr">
              <a:buNone/>
            </a:pPr>
            <a:r>
              <a:rPr lang="en-US" sz="5400" b="1" dirty="0">
                <a:solidFill>
                  <a:srgbClr val="1869A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AE61E7-F4EA-4B28-BFCD-31557321A4F1}"/>
              </a:ext>
            </a:extLst>
          </p:cNvPr>
          <p:cNvSpPr txBox="1"/>
          <p:nvPr/>
        </p:nvSpPr>
        <p:spPr>
          <a:xfrm>
            <a:off x="3048000" y="343975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appreciate your time and attention.</a:t>
            </a:r>
          </a:p>
          <a:p>
            <a:pPr algn="ctr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Please feel free to ask any questions or share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1968</TotalTime>
  <Words>1035</Words>
  <Application>Microsoft Office PowerPoint</Application>
  <PresentationFormat>Widescreen</PresentationFormat>
  <Paragraphs>152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Wingdings</vt:lpstr>
      <vt:lpstr>Georgia</vt:lpstr>
      <vt:lpstr>Arial</vt:lpstr>
      <vt:lpstr>Office Theme</vt:lpstr>
      <vt:lpstr>Land Cover Classification Using Sentinel-2 Satellite Imagery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menna mohammed</cp:lastModifiedBy>
  <cp:revision>24</cp:revision>
  <dcterms:created xsi:type="dcterms:W3CDTF">2024-03-14T10:03:54Z</dcterms:created>
  <dcterms:modified xsi:type="dcterms:W3CDTF">2025-11-24T01:30:08Z</dcterms:modified>
</cp:coreProperties>
</file>